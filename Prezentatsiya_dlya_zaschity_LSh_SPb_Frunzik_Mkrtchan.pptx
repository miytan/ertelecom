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A97A31-7FD6-74E1-7E11-349FAA888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/>
            </a:outerShdw>
          </a:effectLst>
        </p:spPr>
      </p:pic>
      <p:sp>
        <p:nvSpPr>
          <p:cNvPr id="20" name="Text 0"/>
          <p:cNvSpPr txBox="1"/>
          <p:nvPr/>
        </p:nvSpPr>
        <p:spPr>
          <a:xfrm>
            <a:off x="381000" y="1985963"/>
            <a:ext cx="5205413" cy="6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100"/>
              </a:lnSpc>
              <a:defRPr sz="4200" b="1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>
                <a:solidFill>
                  <a:schemeClr val="bg1">
                    <a:alpha val="99000"/>
                  </a:schemeClr>
                </a:solidFill>
              </a:rPr>
              <a:t>Фрунзик </a:t>
            </a:r>
            <a:r>
              <a:rPr lang="ru-RU" dirty="0" err="1">
                <a:solidFill>
                  <a:schemeClr val="bg1">
                    <a:alpha val="99000"/>
                  </a:schemeClr>
                </a:solidFill>
              </a:rPr>
              <a:t>Мкртчан</a:t>
            </a:r>
            <a:endParaRPr dirty="0">
              <a:solidFill>
                <a:schemeClr val="bg1">
                  <a:alpha val="99000"/>
                </a:schemeClr>
              </a:solidFill>
            </a:endParaRPr>
          </a:p>
        </p:txBody>
      </p:sp>
      <p:sp>
        <p:nvSpPr>
          <p:cNvPr id="21" name="Text 1"/>
          <p:cNvSpPr txBox="1"/>
          <p:nvPr/>
        </p:nvSpPr>
        <p:spPr>
          <a:xfrm>
            <a:off x="380999" y="2757488"/>
            <a:ext cx="5573234" cy="732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2900"/>
              </a:lnSpc>
              <a:defRPr sz="24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>
                <a:solidFill>
                  <a:schemeClr val="accent1">
                    <a:lumMod val="20000"/>
                    <a:lumOff val="80000"/>
                    <a:alpha val="99000"/>
                  </a:schemeClr>
                </a:solidFill>
              </a:rPr>
              <a:t>Профессия – сервисный инженер радиосети </a:t>
            </a:r>
            <a:endParaRPr dirty="0">
              <a:solidFill>
                <a:schemeClr val="accent1">
                  <a:lumMod val="20000"/>
                  <a:lumOff val="80000"/>
                  <a:alpha val="99000"/>
                </a:schemeClr>
              </a:solidFill>
            </a:endParaRPr>
          </a:p>
        </p:txBody>
      </p:sp>
      <p:sp>
        <p:nvSpPr>
          <p:cNvPr id="22" name="Text 2"/>
          <p:cNvSpPr txBox="1"/>
          <p:nvPr/>
        </p:nvSpPr>
        <p:spPr>
          <a:xfrm>
            <a:off x="381000" y="4648200"/>
            <a:ext cx="12192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7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ЭР | Эффективное Развитие</a:t>
            </a:r>
          </a:p>
        </p:txBody>
      </p:sp>
      <p:pic>
        <p:nvPicPr>
          <p:cNvPr id="23" name="Image 0" descr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775" y="381000"/>
            <a:ext cx="272425" cy="275453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3"/>
          <p:cNvSpPr/>
          <p:nvPr/>
        </p:nvSpPr>
        <p:spPr>
          <a:xfrm>
            <a:off x="6738938" y="2571750"/>
            <a:ext cx="2019301" cy="2019300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0D94A0-BC3E-B5C8-DDA8-133DA1ED6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365" y="2691431"/>
            <a:ext cx="1770445" cy="17799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381000" y="380999"/>
            <a:ext cx="2400300" cy="354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Состав команды</a:t>
            </a:r>
          </a:p>
        </p:txBody>
      </p:sp>
      <p:sp>
        <p:nvSpPr>
          <p:cNvPr id="29" name="Shape 3"/>
          <p:cNvSpPr/>
          <p:nvPr/>
        </p:nvSpPr>
        <p:spPr>
          <a:xfrm>
            <a:off x="381000" y="1652588"/>
            <a:ext cx="1990725" cy="544284"/>
          </a:xfrm>
          <a:prstGeom prst="roundRect">
            <a:avLst>
              <a:gd name="adj" fmla="val 33600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" name="Text 4"/>
          <p:cNvSpPr txBox="1"/>
          <p:nvPr/>
        </p:nvSpPr>
        <p:spPr>
          <a:xfrm>
            <a:off x="500062" y="1747838"/>
            <a:ext cx="1752601" cy="1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Ревин Михаил Сергеевич</a:t>
            </a:r>
            <a:endParaRPr dirty="0"/>
          </a:p>
        </p:txBody>
      </p:sp>
      <p:sp>
        <p:nvSpPr>
          <p:cNvPr id="31" name="Text 5"/>
          <p:cNvSpPr txBox="1"/>
          <p:nvPr/>
        </p:nvSpPr>
        <p:spPr>
          <a:xfrm>
            <a:off x="500062" y="1968269"/>
            <a:ext cx="1752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8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dirty="0" err="1"/>
              <a:t>Тимлид</a:t>
            </a:r>
            <a:r>
              <a:rPr dirty="0"/>
              <a:t> </a:t>
            </a:r>
            <a:r>
              <a:rPr dirty="0" err="1"/>
              <a:t>команды</a:t>
            </a:r>
            <a:endParaRPr dirty="0"/>
          </a:p>
        </p:txBody>
      </p:sp>
      <p:sp>
        <p:nvSpPr>
          <p:cNvPr id="34" name="Text 10"/>
          <p:cNvSpPr txBox="1"/>
          <p:nvPr/>
        </p:nvSpPr>
        <p:spPr>
          <a:xfrm>
            <a:off x="500062" y="2509128"/>
            <a:ext cx="1981201" cy="1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Семерич Николай Данилович</a:t>
            </a:r>
            <a:endParaRPr dirty="0"/>
          </a:p>
        </p:txBody>
      </p:sp>
      <p:sp>
        <p:nvSpPr>
          <p:cNvPr id="35" name="Text 11"/>
          <p:cNvSpPr txBox="1"/>
          <p:nvPr/>
        </p:nvSpPr>
        <p:spPr>
          <a:xfrm>
            <a:off x="500062" y="2729560"/>
            <a:ext cx="1752601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8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 err="1"/>
              <a:t>Промпт</a:t>
            </a:r>
            <a:r>
              <a:rPr lang="ru-RU" dirty="0"/>
              <a:t>-инженер</a:t>
            </a:r>
            <a:endParaRPr dirty="0"/>
          </a:p>
        </p:txBody>
      </p:sp>
      <p:sp>
        <p:nvSpPr>
          <p:cNvPr id="36" name="Text 13"/>
          <p:cNvSpPr txBox="1"/>
          <p:nvPr/>
        </p:nvSpPr>
        <p:spPr>
          <a:xfrm>
            <a:off x="2705099" y="2509128"/>
            <a:ext cx="1976437" cy="1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Жильников Кирилл Дмитриевич</a:t>
            </a:r>
          </a:p>
        </p:txBody>
      </p:sp>
      <p:sp>
        <p:nvSpPr>
          <p:cNvPr id="37" name="Text 14"/>
          <p:cNvSpPr txBox="1"/>
          <p:nvPr/>
        </p:nvSpPr>
        <p:spPr>
          <a:xfrm>
            <a:off x="2705100" y="2729560"/>
            <a:ext cx="1752600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8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Техлид команды</a:t>
            </a:r>
            <a:endParaRPr dirty="0"/>
          </a:p>
        </p:txBody>
      </p:sp>
      <p:sp>
        <p:nvSpPr>
          <p:cNvPr id="38" name="Text 16"/>
          <p:cNvSpPr txBox="1"/>
          <p:nvPr/>
        </p:nvSpPr>
        <p:spPr>
          <a:xfrm>
            <a:off x="500062" y="3175278"/>
            <a:ext cx="2205037" cy="1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 err="1"/>
              <a:t>Куцевский</a:t>
            </a:r>
            <a:r>
              <a:rPr lang="ru-RU" dirty="0"/>
              <a:t> Николай Владимирович</a:t>
            </a:r>
            <a:endParaRPr dirty="0"/>
          </a:p>
        </p:txBody>
      </p:sp>
      <p:sp>
        <p:nvSpPr>
          <p:cNvPr id="39" name="Text 17"/>
          <p:cNvSpPr txBox="1"/>
          <p:nvPr/>
        </p:nvSpPr>
        <p:spPr>
          <a:xfrm>
            <a:off x="507150" y="3395710"/>
            <a:ext cx="1752601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8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Креативный менеджер</a:t>
            </a:r>
            <a:endParaRPr dirty="0"/>
          </a:p>
        </p:txBody>
      </p:sp>
      <p:sp>
        <p:nvSpPr>
          <p:cNvPr id="40" name="Text 19"/>
          <p:cNvSpPr txBox="1"/>
          <p:nvPr/>
        </p:nvSpPr>
        <p:spPr>
          <a:xfrm>
            <a:off x="2705099" y="3175278"/>
            <a:ext cx="2205037" cy="1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 err="1"/>
              <a:t>Дзиковский</a:t>
            </a:r>
            <a:r>
              <a:rPr lang="ru-RU" dirty="0"/>
              <a:t> Евгений Олегович</a:t>
            </a:r>
            <a:endParaRPr dirty="0"/>
          </a:p>
        </p:txBody>
      </p:sp>
      <p:sp>
        <p:nvSpPr>
          <p:cNvPr id="41" name="Text 20"/>
          <p:cNvSpPr txBox="1"/>
          <p:nvPr/>
        </p:nvSpPr>
        <p:spPr>
          <a:xfrm>
            <a:off x="2705100" y="3395710"/>
            <a:ext cx="1752600" cy="115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8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Создатель презентации</a:t>
            </a:r>
            <a:endParaRPr dirty="0"/>
          </a:p>
        </p:txBody>
      </p:sp>
      <p:pic>
        <p:nvPicPr>
          <p:cNvPr id="4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775" y="381000"/>
            <a:ext cx="272424" cy="275451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Text 21"/>
          <p:cNvSpPr txBox="1"/>
          <p:nvPr/>
        </p:nvSpPr>
        <p:spPr>
          <a:xfrm>
            <a:off x="381000" y="4648200"/>
            <a:ext cx="12192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7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ЭР | Эффективное Развитие</a:t>
            </a:r>
          </a:p>
        </p:txBody>
      </p:sp>
      <p:sp>
        <p:nvSpPr>
          <p:cNvPr id="44" name="Text 22"/>
          <p:cNvSpPr txBox="1"/>
          <p:nvPr/>
        </p:nvSpPr>
        <p:spPr>
          <a:xfrm>
            <a:off x="6076950" y="2538413"/>
            <a:ext cx="1290638" cy="223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700"/>
              </a:lnSpc>
              <a:defRPr sz="14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dirty="0" err="1"/>
              <a:t>Фото</a:t>
            </a:r>
            <a:r>
              <a:rPr dirty="0"/>
              <a:t> </a:t>
            </a:r>
            <a:r>
              <a:rPr dirty="0" err="1"/>
              <a:t>команды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90AFF4-098D-5E7E-7F5C-E7523C400F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4485" y="1223962"/>
            <a:ext cx="3810002" cy="285750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 txBox="1"/>
          <p:nvPr/>
        </p:nvSpPr>
        <p:spPr>
          <a:xfrm>
            <a:off x="381000" y="380999"/>
            <a:ext cx="2352675" cy="354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Суть профессии</a:t>
            </a:r>
          </a:p>
        </p:txBody>
      </p:sp>
      <p:sp>
        <p:nvSpPr>
          <p:cNvPr id="47" name="Text 3"/>
          <p:cNvSpPr txBox="1"/>
          <p:nvPr/>
        </p:nvSpPr>
        <p:spPr>
          <a:xfrm>
            <a:off x="381000" y="1093297"/>
            <a:ext cx="4648200" cy="974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Главная проблема, которую решает специалист — </a:t>
            </a:r>
            <a:r>
              <a:rPr lang="ru-RU" b="1" dirty="0"/>
              <a:t>обеспечение стабильной и бесперебойной работы базовых станций радиосети, устранение аварий и неисправностей</a:t>
            </a:r>
            <a:r>
              <a:rPr lang="ru-RU" dirty="0"/>
              <a:t>, влияющих на качество связи.</a:t>
            </a:r>
            <a:endParaRPr dirty="0"/>
          </a:p>
        </p:txBody>
      </p:sp>
      <p:sp>
        <p:nvSpPr>
          <p:cNvPr id="49" name="Text 11"/>
          <p:cNvSpPr txBox="1"/>
          <p:nvPr/>
        </p:nvSpPr>
        <p:spPr>
          <a:xfrm>
            <a:off x="381000" y="2425993"/>
            <a:ext cx="5753101" cy="1218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rPr lang="ru-RU" sz="1600" dirty="0">
                <a:sym typeface="CoFo Sans"/>
              </a:rPr>
              <a:t>Эта профессия оказывает влияние на </a:t>
            </a:r>
            <a:r>
              <a:rPr lang="ru-RU" sz="1600" b="1" dirty="0">
                <a:sym typeface="CoFo Sans"/>
              </a:rPr>
              <a:t>надёжность мобильной связи и доступ пользователей к сети </a:t>
            </a:r>
            <a:r>
              <a:rPr lang="ru-RU" sz="1600" dirty="0">
                <a:sym typeface="CoFo Sans"/>
              </a:rPr>
              <a:t>— от качества работы сервисного инженера напрямую зависит, насколько стабильно люди могут звонить, выходить в интернет и пользоваться мобильными сервисами.</a:t>
            </a:r>
            <a:endParaRPr dirty="0"/>
          </a:p>
        </p:txBody>
      </p:sp>
      <p:pic>
        <p:nvPicPr>
          <p:cNvPr id="5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775" y="381000"/>
            <a:ext cx="272424" cy="275451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Text 13"/>
          <p:cNvSpPr txBox="1"/>
          <p:nvPr/>
        </p:nvSpPr>
        <p:spPr>
          <a:xfrm>
            <a:off x="381000" y="4648200"/>
            <a:ext cx="12192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7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ЭР | Эффективное Развитие</a:t>
            </a:r>
          </a:p>
        </p:txBody>
      </p:sp>
      <p:sp>
        <p:nvSpPr>
          <p:cNvPr id="53" name="Shape 14"/>
          <p:cNvSpPr/>
          <p:nvPr/>
        </p:nvSpPr>
        <p:spPr>
          <a:xfrm>
            <a:off x="7572375" y="3571875"/>
            <a:ext cx="1188021" cy="1188021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" name="Text 15"/>
          <p:cNvSpPr txBox="1"/>
          <p:nvPr/>
        </p:nvSpPr>
        <p:spPr>
          <a:xfrm>
            <a:off x="7835385" y="4028120"/>
            <a:ext cx="661989" cy="25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000"/>
              </a:lnSpc>
              <a:defRPr sz="8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QR на сайт</a:t>
            </a:r>
          </a:p>
          <a:p>
            <a:pPr algn="ctr">
              <a:lnSpc>
                <a:spcPts val="1000"/>
              </a:lnSpc>
              <a:defRPr sz="8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о профессии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A27693-587E-F09B-5666-3AC79761E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557" y="3648415"/>
            <a:ext cx="1011644" cy="101706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20C076-BA95-8423-9A30-D2C56339D1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300" y="857722"/>
            <a:ext cx="2663899" cy="266389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811F43-4437-FD17-F401-8C5EC6A14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04" r="6355"/>
          <a:stretch>
            <a:fillRect/>
          </a:stretch>
        </p:blipFill>
        <p:spPr>
          <a:xfrm>
            <a:off x="5382578" y="1006720"/>
            <a:ext cx="3376622" cy="3021400"/>
          </a:xfrm>
          <a:prstGeom prst="rect">
            <a:avLst/>
          </a:prstGeom>
        </p:spPr>
      </p:pic>
      <p:sp>
        <p:nvSpPr>
          <p:cNvPr id="56" name="Text 0"/>
          <p:cNvSpPr txBox="1"/>
          <p:nvPr/>
        </p:nvSpPr>
        <p:spPr>
          <a:xfrm>
            <a:off x="380999" y="380999"/>
            <a:ext cx="2967040" cy="354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Задачи специалиста</a:t>
            </a:r>
          </a:p>
        </p:txBody>
      </p:sp>
      <p:sp>
        <p:nvSpPr>
          <p:cNvPr id="57" name="Text 3"/>
          <p:cNvSpPr txBox="1"/>
          <p:nvPr/>
        </p:nvSpPr>
        <p:spPr>
          <a:xfrm>
            <a:off x="380999" y="902263"/>
            <a:ext cx="4453270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Поддержание работоспособности</a:t>
            </a:r>
            <a:endParaRPr dirty="0"/>
          </a:p>
        </p:txBody>
      </p:sp>
      <p:sp>
        <p:nvSpPr>
          <p:cNvPr id="58" name="Text 4"/>
          <p:cNvSpPr txBox="1"/>
          <p:nvPr/>
        </p:nvSpPr>
        <p:spPr>
          <a:xfrm>
            <a:off x="380999" y="1198875"/>
            <a:ext cx="4948238" cy="710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Мониторинг состояния базовых станций (BTS/</a:t>
            </a:r>
            <a:r>
              <a:rPr lang="ru-RU" dirty="0" err="1"/>
              <a:t>NodeB</a:t>
            </a:r>
            <a:r>
              <a:rPr lang="ru-RU" dirty="0"/>
              <a:t>/</a:t>
            </a:r>
            <a:r>
              <a:rPr lang="ru-RU" dirty="0" err="1"/>
              <a:t>eNodeB</a:t>
            </a:r>
            <a:r>
              <a:rPr lang="ru-RU" dirty="0"/>
              <a:t>/</a:t>
            </a:r>
            <a:r>
              <a:rPr lang="ru-RU" dirty="0" err="1"/>
              <a:t>gNodeB</a:t>
            </a:r>
            <a:r>
              <a:rPr lang="ru-RU" dirty="0"/>
              <a:t>)</a:t>
            </a:r>
          </a:p>
          <a:p>
            <a:r>
              <a:rPr lang="ru-RU" dirty="0"/>
              <a:t>Выявление и устранение аварий и деградаций сигнала</a:t>
            </a:r>
          </a:p>
          <a:p>
            <a:r>
              <a:rPr lang="ru-RU" dirty="0"/>
              <a:t>Плановое и внеплановое техобслуживание оборудования на площадках (вышки, шкафы с оборудованием, антенны)</a:t>
            </a:r>
            <a:endParaRPr dirty="0"/>
          </a:p>
        </p:txBody>
      </p:sp>
      <p:sp>
        <p:nvSpPr>
          <p:cNvPr id="59" name="Text 7"/>
          <p:cNvSpPr txBox="1"/>
          <p:nvPr/>
        </p:nvSpPr>
        <p:spPr>
          <a:xfrm>
            <a:off x="380999" y="2020993"/>
            <a:ext cx="3864935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Диагностика и устранение неисправностей</a:t>
            </a:r>
            <a:endParaRPr dirty="0"/>
          </a:p>
        </p:txBody>
      </p:sp>
      <p:sp>
        <p:nvSpPr>
          <p:cNvPr id="60" name="Text 8"/>
          <p:cNvSpPr txBox="1"/>
          <p:nvPr/>
        </p:nvSpPr>
        <p:spPr>
          <a:xfrm>
            <a:off x="380999" y="2268135"/>
            <a:ext cx="4948238" cy="890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Локализация причины проблемы — оборудование, кабельная инфраструктура, канал связи, ПО </a:t>
            </a:r>
          </a:p>
          <a:p>
            <a:r>
              <a:rPr lang="ru-RU" dirty="0"/>
              <a:t>Ремонт или замена неисправных модулей (приёмопередатчики, усилители, антенно-фидерные тракты) </a:t>
            </a:r>
          </a:p>
          <a:p>
            <a:r>
              <a:rPr lang="ru-RU" dirty="0"/>
              <a:t>Работа с системами мониторинга (NMS/OSS) для удалённой диагностики</a:t>
            </a:r>
            <a:endParaRPr dirty="0"/>
          </a:p>
        </p:txBody>
      </p:sp>
      <p:sp>
        <p:nvSpPr>
          <p:cNvPr id="61" name="Text 11"/>
          <p:cNvSpPr txBox="1"/>
          <p:nvPr/>
        </p:nvSpPr>
        <p:spPr>
          <a:xfrm>
            <a:off x="380999" y="3328219"/>
            <a:ext cx="3652284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Обеспечение параметров качества связи</a:t>
            </a:r>
            <a:endParaRPr dirty="0"/>
          </a:p>
        </p:txBody>
      </p:sp>
      <p:sp>
        <p:nvSpPr>
          <p:cNvPr id="62" name="Text 12"/>
          <p:cNvSpPr txBox="1"/>
          <p:nvPr/>
        </p:nvSpPr>
        <p:spPr>
          <a:xfrm>
            <a:off x="380999" y="3571875"/>
            <a:ext cx="4948238" cy="710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Контроль показателей </a:t>
            </a:r>
            <a:r>
              <a:rPr lang="ru-RU" dirty="0" err="1"/>
              <a:t>QoS</a:t>
            </a:r>
            <a:r>
              <a:rPr lang="ru-RU" dirty="0"/>
              <a:t>/</a:t>
            </a:r>
            <a:r>
              <a:rPr lang="ru-RU" dirty="0" err="1"/>
              <a:t>QoE</a:t>
            </a:r>
            <a:r>
              <a:rPr lang="ru-RU" dirty="0"/>
              <a:t> — уровень сигнала, зона покрытия, пропускная способность </a:t>
            </a:r>
          </a:p>
          <a:p>
            <a:r>
              <a:rPr lang="ru-RU" dirty="0"/>
              <a:t>Настройка и оптимизация параметров базовых станций (мощность, азимуты антенн, частотные каналы)</a:t>
            </a:r>
            <a:endParaRPr dirty="0"/>
          </a:p>
        </p:txBody>
      </p:sp>
      <p:pic>
        <p:nvPicPr>
          <p:cNvPr id="63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775" y="381000"/>
            <a:ext cx="272425" cy="275451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Text 13"/>
          <p:cNvSpPr txBox="1"/>
          <p:nvPr/>
        </p:nvSpPr>
        <p:spPr>
          <a:xfrm>
            <a:off x="381000" y="4648200"/>
            <a:ext cx="12192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7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ЭР | Эффективное Развитие</a:t>
            </a:r>
          </a:p>
        </p:txBody>
      </p:sp>
      <p:sp>
        <p:nvSpPr>
          <p:cNvPr id="65" name="Shape 14"/>
          <p:cNvSpPr/>
          <p:nvPr/>
        </p:nvSpPr>
        <p:spPr>
          <a:xfrm>
            <a:off x="7572375" y="3571875"/>
            <a:ext cx="1188021" cy="1188021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" name="Text 15"/>
          <p:cNvSpPr txBox="1"/>
          <p:nvPr/>
        </p:nvSpPr>
        <p:spPr>
          <a:xfrm>
            <a:off x="7835386" y="4028120"/>
            <a:ext cx="661989" cy="25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000"/>
              </a:lnSpc>
              <a:defRPr sz="8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QR на сайт</a:t>
            </a:r>
          </a:p>
          <a:p>
            <a:pPr algn="ctr">
              <a:lnSpc>
                <a:spcPts val="1000"/>
              </a:lnSpc>
              <a:defRPr sz="8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о профессии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104EB4-977F-0B0A-4AD3-C7DFCBDF3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557" y="3648415"/>
            <a:ext cx="1011644" cy="101706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 txBox="1"/>
          <p:nvPr/>
        </p:nvSpPr>
        <p:spPr>
          <a:xfrm>
            <a:off x="381000" y="380999"/>
            <a:ext cx="4533900" cy="354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Что необходимо знать/изучать</a:t>
            </a:r>
          </a:p>
        </p:txBody>
      </p:sp>
      <p:sp>
        <p:nvSpPr>
          <p:cNvPr id="69" name="Text 3"/>
          <p:cNvSpPr txBox="1"/>
          <p:nvPr/>
        </p:nvSpPr>
        <p:spPr>
          <a:xfrm>
            <a:off x="381000" y="1098273"/>
            <a:ext cx="4307237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Устройство и принципы работы базовых станций</a:t>
            </a:r>
            <a:endParaRPr dirty="0"/>
          </a:p>
        </p:txBody>
      </p:sp>
      <p:sp>
        <p:nvSpPr>
          <p:cNvPr id="70" name="Text 4"/>
          <p:cNvSpPr txBox="1"/>
          <p:nvPr/>
        </p:nvSpPr>
        <p:spPr>
          <a:xfrm>
            <a:off x="381000" y="1376874"/>
            <a:ext cx="4948238" cy="530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Нужно понимать архитектуру оборудования радиодоступа — приёмопередатчики, усилители, антенно-фидерные тракты, — чтобы быстро находить неисправный узел и знать, как его заменить или отремонтировать.</a:t>
            </a:r>
            <a:endParaRPr dirty="0"/>
          </a:p>
        </p:txBody>
      </p:sp>
      <p:sp>
        <p:nvSpPr>
          <p:cNvPr id="71" name="Text 7"/>
          <p:cNvSpPr txBox="1"/>
          <p:nvPr/>
        </p:nvSpPr>
        <p:spPr>
          <a:xfrm>
            <a:off x="381000" y="2199645"/>
            <a:ext cx="6066295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Основы распространения радиоволн и параметры качества сигнала</a:t>
            </a:r>
            <a:endParaRPr dirty="0"/>
          </a:p>
        </p:txBody>
      </p:sp>
      <p:sp>
        <p:nvSpPr>
          <p:cNvPr id="72" name="Text 8"/>
          <p:cNvSpPr txBox="1"/>
          <p:nvPr/>
        </p:nvSpPr>
        <p:spPr>
          <a:xfrm>
            <a:off x="381000" y="2484098"/>
            <a:ext cx="4948238" cy="530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Важно разбираться в том, что влияет на уровень сигнала и зону покрытия (мощность, частота, азимут и наклон антенн, интерференция), чтобы не просто чинить оборудование, но и настраивать его для оптимального качества связи.</a:t>
            </a:r>
            <a:endParaRPr dirty="0"/>
          </a:p>
        </p:txBody>
      </p:sp>
      <p:sp>
        <p:nvSpPr>
          <p:cNvPr id="73" name="Text 11"/>
          <p:cNvSpPr txBox="1"/>
          <p:nvPr/>
        </p:nvSpPr>
        <p:spPr>
          <a:xfrm>
            <a:off x="381000" y="3324225"/>
            <a:ext cx="6221278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Системы мониторинга и диагностики сети (NMS/OSS)</a:t>
            </a:r>
            <a:endParaRPr dirty="0"/>
          </a:p>
        </p:txBody>
      </p:sp>
      <p:sp>
        <p:nvSpPr>
          <p:cNvPr id="74" name="Text 12"/>
          <p:cNvSpPr txBox="1"/>
          <p:nvPr/>
        </p:nvSpPr>
        <p:spPr>
          <a:xfrm>
            <a:off x="381000" y="3597840"/>
            <a:ext cx="4948238" cy="710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Специалист должен уметь работать с программными системами удалённого контроля, которые показывают состояние станций и сигнализируют об авариях — это основной инструмент для быстрого обнаружения и локализации проблем ещё до выезда на площадку.</a:t>
            </a:r>
            <a:endParaRPr dirty="0"/>
          </a:p>
        </p:txBody>
      </p:sp>
      <p:pic>
        <p:nvPicPr>
          <p:cNvPr id="7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775" y="381000"/>
            <a:ext cx="272425" cy="275451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Text 13"/>
          <p:cNvSpPr txBox="1"/>
          <p:nvPr/>
        </p:nvSpPr>
        <p:spPr>
          <a:xfrm>
            <a:off x="381000" y="4648200"/>
            <a:ext cx="12192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7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ЭР | Эффективное Развитие</a:t>
            </a:r>
          </a:p>
        </p:txBody>
      </p:sp>
      <p:sp>
        <p:nvSpPr>
          <p:cNvPr id="77" name="Shape 14"/>
          <p:cNvSpPr/>
          <p:nvPr/>
        </p:nvSpPr>
        <p:spPr>
          <a:xfrm>
            <a:off x="7572375" y="3571875"/>
            <a:ext cx="1188021" cy="1188021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" name="Text 15"/>
          <p:cNvSpPr txBox="1"/>
          <p:nvPr/>
        </p:nvSpPr>
        <p:spPr>
          <a:xfrm>
            <a:off x="7835386" y="4028120"/>
            <a:ext cx="661989" cy="25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000"/>
              </a:lnSpc>
              <a:defRPr sz="8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QR на сайт</a:t>
            </a:r>
          </a:p>
          <a:p>
            <a:pPr algn="ctr">
              <a:lnSpc>
                <a:spcPts val="1000"/>
              </a:lnSpc>
              <a:defRPr sz="8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о профессии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88EBE5-D794-F47C-A9FB-0A7C966ED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557" y="3648415"/>
            <a:ext cx="1011644" cy="101706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23336C-357C-2B21-1C84-F71BC9E83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517" y="1036156"/>
            <a:ext cx="2336684" cy="233668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 txBox="1"/>
          <p:nvPr/>
        </p:nvSpPr>
        <p:spPr>
          <a:xfrm>
            <a:off x="381000" y="380999"/>
            <a:ext cx="2781300" cy="354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Презентация сайта</a:t>
            </a:r>
          </a:p>
        </p:txBody>
      </p:sp>
      <p:pic>
        <p:nvPicPr>
          <p:cNvPr id="8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775" y="381000"/>
            <a:ext cx="272425" cy="275451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Text 1"/>
          <p:cNvSpPr txBox="1"/>
          <p:nvPr/>
        </p:nvSpPr>
        <p:spPr>
          <a:xfrm>
            <a:off x="381000" y="4648200"/>
            <a:ext cx="12192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7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ЭР | Эффективное Развитие</a:t>
            </a:r>
          </a:p>
        </p:txBody>
      </p:sp>
      <p:sp>
        <p:nvSpPr>
          <p:cNvPr id="83" name="Shape 2"/>
          <p:cNvSpPr/>
          <p:nvPr/>
        </p:nvSpPr>
        <p:spPr>
          <a:xfrm>
            <a:off x="381000" y="914400"/>
            <a:ext cx="2038350" cy="1824039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" name="Shape 3"/>
          <p:cNvSpPr/>
          <p:nvPr/>
        </p:nvSpPr>
        <p:spPr>
          <a:xfrm>
            <a:off x="2495550" y="914400"/>
            <a:ext cx="2033589" cy="1824039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" name="Shape 4"/>
          <p:cNvSpPr/>
          <p:nvPr/>
        </p:nvSpPr>
        <p:spPr>
          <a:xfrm>
            <a:off x="4610100" y="914400"/>
            <a:ext cx="2033589" cy="1824039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" name="Shape 5"/>
          <p:cNvSpPr/>
          <p:nvPr/>
        </p:nvSpPr>
        <p:spPr>
          <a:xfrm>
            <a:off x="2495550" y="2809875"/>
            <a:ext cx="2033589" cy="1824039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7" name="Shape 6"/>
          <p:cNvSpPr/>
          <p:nvPr/>
        </p:nvSpPr>
        <p:spPr>
          <a:xfrm>
            <a:off x="4610100" y="2809875"/>
            <a:ext cx="2033589" cy="1824039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" name="Shape 7"/>
          <p:cNvSpPr/>
          <p:nvPr/>
        </p:nvSpPr>
        <p:spPr>
          <a:xfrm>
            <a:off x="6719888" y="2809875"/>
            <a:ext cx="2038351" cy="1824039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Text 8"/>
          <p:cNvSpPr txBox="1"/>
          <p:nvPr/>
        </p:nvSpPr>
        <p:spPr>
          <a:xfrm>
            <a:off x="1057275" y="1738313"/>
            <a:ext cx="685800" cy="182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скриншот</a:t>
            </a:r>
          </a:p>
        </p:txBody>
      </p:sp>
      <p:sp>
        <p:nvSpPr>
          <p:cNvPr id="90" name="Text 9"/>
          <p:cNvSpPr txBox="1"/>
          <p:nvPr/>
        </p:nvSpPr>
        <p:spPr>
          <a:xfrm>
            <a:off x="3171825" y="1738313"/>
            <a:ext cx="685800" cy="182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скриншот</a:t>
            </a:r>
          </a:p>
        </p:txBody>
      </p:sp>
      <p:sp>
        <p:nvSpPr>
          <p:cNvPr id="91" name="Text 10"/>
          <p:cNvSpPr txBox="1"/>
          <p:nvPr/>
        </p:nvSpPr>
        <p:spPr>
          <a:xfrm>
            <a:off x="5286375" y="1738313"/>
            <a:ext cx="685800" cy="182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скриншот</a:t>
            </a:r>
          </a:p>
        </p:txBody>
      </p:sp>
      <p:sp>
        <p:nvSpPr>
          <p:cNvPr id="92" name="Text 11"/>
          <p:cNvSpPr txBox="1"/>
          <p:nvPr/>
        </p:nvSpPr>
        <p:spPr>
          <a:xfrm>
            <a:off x="3171825" y="3633787"/>
            <a:ext cx="685800" cy="1821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скриншот</a:t>
            </a:r>
          </a:p>
        </p:txBody>
      </p:sp>
      <p:sp>
        <p:nvSpPr>
          <p:cNvPr id="93" name="Text 12"/>
          <p:cNvSpPr txBox="1"/>
          <p:nvPr/>
        </p:nvSpPr>
        <p:spPr>
          <a:xfrm>
            <a:off x="5286375" y="3633787"/>
            <a:ext cx="685800" cy="1821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скриншот</a:t>
            </a:r>
          </a:p>
        </p:txBody>
      </p:sp>
      <p:sp>
        <p:nvSpPr>
          <p:cNvPr id="94" name="Text 13"/>
          <p:cNvSpPr txBox="1"/>
          <p:nvPr/>
        </p:nvSpPr>
        <p:spPr>
          <a:xfrm>
            <a:off x="7396161" y="3633787"/>
            <a:ext cx="685801" cy="1821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скриншот</a:t>
            </a:r>
          </a:p>
        </p:txBody>
      </p:sp>
      <p:sp>
        <p:nvSpPr>
          <p:cNvPr id="95" name="Shape 14"/>
          <p:cNvSpPr/>
          <p:nvPr/>
        </p:nvSpPr>
        <p:spPr>
          <a:xfrm>
            <a:off x="6986588" y="1066800"/>
            <a:ext cx="1507109" cy="1507109"/>
          </a:xfrm>
          <a:prstGeom prst="roundRect">
            <a:avLst>
              <a:gd name="adj" fmla="val 16667"/>
            </a:avLst>
          </a:prstGeom>
          <a:solidFill>
            <a:srgbClr val="FBAC0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" name="Text 15"/>
          <p:cNvSpPr txBox="1"/>
          <p:nvPr/>
        </p:nvSpPr>
        <p:spPr>
          <a:xfrm>
            <a:off x="7320246" y="1645594"/>
            <a:ext cx="842964" cy="333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300"/>
              </a:lnSpc>
              <a:defRPr sz="10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QR на сайт</a:t>
            </a:r>
          </a:p>
          <a:p>
            <a:pPr algn="ctr">
              <a:lnSpc>
                <a:spcPts val="1300"/>
              </a:lnSpc>
              <a:defRPr sz="10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о профессии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5C72EA-27A7-E6BD-E8F4-80015A89A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768" y="1179651"/>
            <a:ext cx="1292586" cy="129951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F921151-7F92-0F1C-0C1F-CD5219DCA6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831" b="32064"/>
          <a:stretch>
            <a:fillRect/>
          </a:stretch>
        </p:blipFill>
        <p:spPr>
          <a:xfrm>
            <a:off x="2495549" y="900325"/>
            <a:ext cx="2033589" cy="1824039"/>
          </a:xfrm>
          <a:prstGeom prst="round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C505826-50F9-B585-8283-98FD331BEB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553" b="5616"/>
          <a:stretch>
            <a:fillRect/>
          </a:stretch>
        </p:blipFill>
        <p:spPr>
          <a:xfrm>
            <a:off x="4614863" y="908334"/>
            <a:ext cx="2033589" cy="1824039"/>
          </a:xfrm>
          <a:prstGeom prst="round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90E1BAB-A634-9EB5-F949-569F0F07B3D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491" t="28279" r="44634" b="6545"/>
          <a:stretch>
            <a:fillRect/>
          </a:stretch>
        </p:blipFill>
        <p:spPr>
          <a:xfrm>
            <a:off x="376237" y="908932"/>
            <a:ext cx="2033589" cy="1824039"/>
          </a:xfrm>
          <a:prstGeom prst="round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10F9E47-ED7F-64AC-3ABB-4527918358D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218" t="27419" r="43955" b="8939"/>
          <a:stretch>
            <a:fillRect/>
          </a:stretch>
        </p:blipFill>
        <p:spPr>
          <a:xfrm>
            <a:off x="6719888" y="2809875"/>
            <a:ext cx="2029403" cy="1824039"/>
          </a:xfrm>
          <a:prstGeom prst="round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0B2247D-C6C8-49BF-FC6B-BBFB76FA482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083" r="992"/>
          <a:stretch>
            <a:fillRect/>
          </a:stretch>
        </p:blipFill>
        <p:spPr>
          <a:xfrm>
            <a:off x="1966541" y="2804407"/>
            <a:ext cx="2562597" cy="1829507"/>
          </a:xfrm>
          <a:prstGeom prst="round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2384E42-A360-5D57-BEA1-2FBBFAC43D9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807" r="5499"/>
          <a:stretch>
            <a:fillRect/>
          </a:stretch>
        </p:blipFill>
        <p:spPr>
          <a:xfrm>
            <a:off x="4601152" y="2819291"/>
            <a:ext cx="2038351" cy="1829507"/>
          </a:xfrm>
          <a:prstGeom prst="round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775" y="381000"/>
            <a:ext cx="272425" cy="275453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 0"/>
          <p:cNvSpPr txBox="1"/>
          <p:nvPr/>
        </p:nvSpPr>
        <p:spPr>
          <a:xfrm>
            <a:off x="381000" y="380999"/>
            <a:ext cx="6705600" cy="354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Какие технологии использовали</a:t>
            </a:r>
          </a:p>
        </p:txBody>
      </p:sp>
      <p:sp>
        <p:nvSpPr>
          <p:cNvPr id="100" name="Text 3"/>
          <p:cNvSpPr txBox="1"/>
          <p:nvPr/>
        </p:nvSpPr>
        <p:spPr>
          <a:xfrm>
            <a:off x="381000" y="949556"/>
            <a:ext cx="1083590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 err="1"/>
              <a:t>Git</a:t>
            </a:r>
            <a:r>
              <a:rPr lang="ru-RU" dirty="0"/>
              <a:t> и </a:t>
            </a:r>
            <a:r>
              <a:rPr lang="ru-RU" dirty="0" err="1"/>
              <a:t>GitHub</a:t>
            </a:r>
            <a:endParaRPr dirty="0"/>
          </a:p>
        </p:txBody>
      </p:sp>
      <p:sp>
        <p:nvSpPr>
          <p:cNvPr id="101" name="Text 4"/>
          <p:cNvSpPr txBox="1"/>
          <p:nvPr/>
        </p:nvSpPr>
        <p:spPr>
          <a:xfrm>
            <a:off x="381000" y="1278168"/>
            <a:ext cx="4948238" cy="1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— создали репозиторий для хранения кода и совместной работы над проектом</a:t>
            </a:r>
            <a:endParaRPr dirty="0"/>
          </a:p>
        </p:txBody>
      </p:sp>
      <p:sp>
        <p:nvSpPr>
          <p:cNvPr id="102" name="Text 7"/>
          <p:cNvSpPr txBox="1"/>
          <p:nvPr/>
        </p:nvSpPr>
        <p:spPr>
          <a:xfrm>
            <a:off x="381000" y="1537820"/>
            <a:ext cx="982851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 err="1"/>
              <a:t>OpenCode</a:t>
            </a:r>
            <a:endParaRPr dirty="0"/>
          </a:p>
        </p:txBody>
      </p:sp>
      <p:sp>
        <p:nvSpPr>
          <p:cNvPr id="103" name="Text 8"/>
          <p:cNvSpPr txBox="1"/>
          <p:nvPr/>
        </p:nvSpPr>
        <p:spPr>
          <a:xfrm>
            <a:off x="381000" y="1866432"/>
            <a:ext cx="4948239" cy="1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— CLI-инструмент с ИИ-агентом для генерации кода прямо в терминале</a:t>
            </a:r>
            <a:endParaRPr dirty="0"/>
          </a:p>
        </p:txBody>
      </p:sp>
      <p:sp>
        <p:nvSpPr>
          <p:cNvPr id="104" name="Text 13"/>
          <p:cNvSpPr txBox="1"/>
          <p:nvPr/>
        </p:nvSpPr>
        <p:spPr>
          <a:xfrm>
            <a:off x="381000" y="4648200"/>
            <a:ext cx="12192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7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ЭР | Эффективное Развитие</a:t>
            </a:r>
          </a:p>
        </p:txBody>
      </p:sp>
      <p:sp>
        <p:nvSpPr>
          <p:cNvPr id="105" name="Shape 14"/>
          <p:cNvSpPr/>
          <p:nvPr/>
        </p:nvSpPr>
        <p:spPr>
          <a:xfrm>
            <a:off x="7572375" y="3571875"/>
            <a:ext cx="1188021" cy="1188021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" name="Text 15"/>
          <p:cNvSpPr txBox="1"/>
          <p:nvPr/>
        </p:nvSpPr>
        <p:spPr>
          <a:xfrm>
            <a:off x="7835386" y="4028120"/>
            <a:ext cx="661989" cy="25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000"/>
              </a:lnSpc>
              <a:defRPr sz="8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QR на сайт</a:t>
            </a:r>
          </a:p>
          <a:p>
            <a:pPr algn="ctr">
              <a:lnSpc>
                <a:spcPts val="1000"/>
              </a:lnSpc>
              <a:defRPr sz="8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о профессии</a:t>
            </a:r>
          </a:p>
        </p:txBody>
      </p:sp>
      <p:sp>
        <p:nvSpPr>
          <p:cNvPr id="107" name="Text 0"/>
          <p:cNvSpPr txBox="1"/>
          <p:nvPr/>
        </p:nvSpPr>
        <p:spPr>
          <a:xfrm>
            <a:off x="380999" y="2543792"/>
            <a:ext cx="6705601" cy="354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Какие фишки/интерактивы есть на сайте</a:t>
            </a:r>
          </a:p>
        </p:txBody>
      </p:sp>
      <p:sp>
        <p:nvSpPr>
          <p:cNvPr id="108" name="Text 3"/>
          <p:cNvSpPr txBox="1"/>
          <p:nvPr/>
        </p:nvSpPr>
        <p:spPr>
          <a:xfrm>
            <a:off x="381000" y="3042452"/>
            <a:ext cx="3013129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Навигация и адаптивный дизайн</a:t>
            </a:r>
            <a:endParaRPr dirty="0"/>
          </a:p>
        </p:txBody>
      </p:sp>
      <p:sp>
        <p:nvSpPr>
          <p:cNvPr id="109" name="Text 4"/>
          <p:cNvSpPr txBox="1"/>
          <p:nvPr/>
        </p:nvSpPr>
        <p:spPr>
          <a:xfrm>
            <a:off x="380999" y="3371064"/>
            <a:ext cx="5105403" cy="351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Удобное меню, корректное отображение на разных устройствах</a:t>
            </a:r>
            <a:r>
              <a:rPr lang="en-US" dirty="0"/>
              <a:t> (</a:t>
            </a:r>
            <a:r>
              <a:rPr lang="ru-RU" dirty="0"/>
              <a:t>читаемо, </a:t>
            </a:r>
            <a:r>
              <a:rPr lang="ru-RU" dirty="0" err="1"/>
              <a:t>кликабельно</a:t>
            </a:r>
            <a:r>
              <a:rPr lang="ru-RU" dirty="0"/>
              <a:t> и на телефоне, и на ПК)</a:t>
            </a:r>
            <a:endParaRPr dirty="0"/>
          </a:p>
        </p:txBody>
      </p:sp>
      <p:sp>
        <p:nvSpPr>
          <p:cNvPr id="110" name="Text 7"/>
          <p:cNvSpPr txBox="1"/>
          <p:nvPr/>
        </p:nvSpPr>
        <p:spPr>
          <a:xfrm>
            <a:off x="380999" y="3799269"/>
            <a:ext cx="3276600" cy="251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Интерактивный опрос</a:t>
            </a:r>
            <a:endParaRPr dirty="0"/>
          </a:p>
        </p:txBody>
      </p:sp>
      <p:sp>
        <p:nvSpPr>
          <p:cNvPr id="111" name="Text 8"/>
          <p:cNvSpPr txBox="1"/>
          <p:nvPr/>
        </p:nvSpPr>
        <p:spPr>
          <a:xfrm>
            <a:off x="380999" y="4088435"/>
            <a:ext cx="4948239" cy="351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Ненавязчивые вопросы, которые оставят впечатление и дадут студенту повод задуматься о варианте будущей профессии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118F8B-9CA8-14C4-BFB2-6AE9964EF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557" y="3648415"/>
            <a:ext cx="1011644" cy="101706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775" y="381000"/>
            <a:ext cx="272431" cy="275453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 2"/>
          <p:cNvSpPr txBox="1"/>
          <p:nvPr/>
        </p:nvSpPr>
        <p:spPr>
          <a:xfrm>
            <a:off x="381000" y="1381125"/>
            <a:ext cx="2052234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Настройка окружения</a:t>
            </a:r>
            <a:endParaRPr dirty="0"/>
          </a:p>
        </p:txBody>
      </p:sp>
      <p:sp>
        <p:nvSpPr>
          <p:cNvPr id="115" name="Text 3"/>
          <p:cNvSpPr txBox="1"/>
          <p:nvPr/>
        </p:nvSpPr>
        <p:spPr>
          <a:xfrm>
            <a:off x="381000" y="1709738"/>
            <a:ext cx="5159644" cy="1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 err="1"/>
              <a:t>bash</a:t>
            </a:r>
            <a:r>
              <a:rPr lang="ru-RU" dirty="0"/>
              <a:t> не был виден в PATH/</a:t>
            </a:r>
            <a:r>
              <a:rPr lang="ru-RU" dirty="0" err="1"/>
              <a:t>WebStorm</a:t>
            </a:r>
            <a:r>
              <a:rPr lang="ru-RU" dirty="0"/>
              <a:t>, пришлось разбираться с переменными среды</a:t>
            </a:r>
            <a:endParaRPr dirty="0"/>
          </a:p>
        </p:txBody>
      </p:sp>
      <p:sp>
        <p:nvSpPr>
          <p:cNvPr id="116" name="Text 6"/>
          <p:cNvSpPr txBox="1"/>
          <p:nvPr/>
        </p:nvSpPr>
        <p:spPr>
          <a:xfrm>
            <a:off x="380999" y="2352675"/>
            <a:ext cx="1618281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Подключение ИИ</a:t>
            </a:r>
            <a:endParaRPr dirty="0"/>
          </a:p>
        </p:txBody>
      </p:sp>
      <p:sp>
        <p:nvSpPr>
          <p:cNvPr id="117" name="Text 7"/>
          <p:cNvSpPr txBox="1"/>
          <p:nvPr/>
        </p:nvSpPr>
        <p:spPr>
          <a:xfrm>
            <a:off x="381000" y="2681288"/>
            <a:ext cx="4948238" cy="1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настройка API-ключа и провайдера через </a:t>
            </a:r>
            <a:r>
              <a:rPr lang="ru-RU" dirty="0" err="1"/>
              <a:t>OpenRouter</a:t>
            </a:r>
            <a:endParaRPr dirty="0"/>
          </a:p>
        </p:txBody>
      </p:sp>
      <p:sp>
        <p:nvSpPr>
          <p:cNvPr id="118" name="Text 10"/>
          <p:cNvSpPr txBox="1"/>
          <p:nvPr/>
        </p:nvSpPr>
        <p:spPr>
          <a:xfrm>
            <a:off x="381000" y="3328987"/>
            <a:ext cx="3113868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Ошибки в сгенерированном коде</a:t>
            </a:r>
            <a:endParaRPr dirty="0"/>
          </a:p>
        </p:txBody>
      </p:sp>
      <p:sp>
        <p:nvSpPr>
          <p:cNvPr id="119" name="Text 11"/>
          <p:cNvSpPr txBox="1"/>
          <p:nvPr/>
        </p:nvSpPr>
        <p:spPr>
          <a:xfrm>
            <a:off x="381000" y="3657600"/>
            <a:ext cx="4948238" cy="1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Проблемы с вёрсткой, которые приходилось исправлять вручную</a:t>
            </a:r>
            <a:endParaRPr dirty="0"/>
          </a:p>
        </p:txBody>
      </p:sp>
      <p:sp>
        <p:nvSpPr>
          <p:cNvPr id="120" name="Text 12"/>
          <p:cNvSpPr txBox="1"/>
          <p:nvPr/>
        </p:nvSpPr>
        <p:spPr>
          <a:xfrm>
            <a:off x="381000" y="380999"/>
            <a:ext cx="5300663" cy="354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С какими сложностями столкнулись</a:t>
            </a:r>
          </a:p>
        </p:txBody>
      </p:sp>
      <p:sp>
        <p:nvSpPr>
          <p:cNvPr id="121" name="Text 13"/>
          <p:cNvSpPr txBox="1"/>
          <p:nvPr/>
        </p:nvSpPr>
        <p:spPr>
          <a:xfrm>
            <a:off x="381000" y="4648200"/>
            <a:ext cx="12192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7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ЭР | Эффективное Развитие</a:t>
            </a:r>
          </a:p>
        </p:txBody>
      </p:sp>
      <p:sp>
        <p:nvSpPr>
          <p:cNvPr id="122" name="Shape 14"/>
          <p:cNvSpPr/>
          <p:nvPr/>
        </p:nvSpPr>
        <p:spPr>
          <a:xfrm>
            <a:off x="7572375" y="3571875"/>
            <a:ext cx="1188021" cy="1188021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" name="Text 15"/>
          <p:cNvSpPr txBox="1"/>
          <p:nvPr/>
        </p:nvSpPr>
        <p:spPr>
          <a:xfrm>
            <a:off x="7835382" y="4028120"/>
            <a:ext cx="661989" cy="25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000"/>
              </a:lnSpc>
              <a:defRPr sz="8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QR на сайт</a:t>
            </a:r>
          </a:p>
          <a:p>
            <a:pPr algn="ctr">
              <a:lnSpc>
                <a:spcPts val="1000"/>
              </a:lnSpc>
              <a:defRPr sz="8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о профессии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0AD278-3A61-A13F-70B8-9C5DFC83D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557" y="3648415"/>
            <a:ext cx="1011644" cy="101706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775" y="381000"/>
            <a:ext cx="272431" cy="275453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ext 2"/>
          <p:cNvSpPr txBox="1"/>
          <p:nvPr/>
        </p:nvSpPr>
        <p:spPr>
          <a:xfrm>
            <a:off x="381000" y="861846"/>
            <a:ext cx="2400946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Навык работы в команде</a:t>
            </a:r>
            <a:endParaRPr dirty="0"/>
          </a:p>
        </p:txBody>
      </p:sp>
      <p:sp>
        <p:nvSpPr>
          <p:cNvPr id="127" name="Text 3"/>
          <p:cNvSpPr txBox="1"/>
          <p:nvPr/>
        </p:nvSpPr>
        <p:spPr>
          <a:xfrm>
            <a:off x="381000" y="1190459"/>
            <a:ext cx="4948238" cy="179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sz="1200" dirty="0"/>
              <a:t>командная разработка в </a:t>
            </a:r>
            <a:r>
              <a:rPr lang="en-US" sz="1200" dirty="0"/>
              <a:t>GitHub </a:t>
            </a:r>
            <a:r>
              <a:rPr lang="ru-RU" sz="1200" dirty="0"/>
              <a:t>и контроль версий с </a:t>
            </a:r>
            <a:r>
              <a:rPr lang="en-US" sz="1200" dirty="0"/>
              <a:t>Git</a:t>
            </a:r>
            <a:endParaRPr sz="1200" dirty="0"/>
          </a:p>
        </p:txBody>
      </p:sp>
      <p:sp>
        <p:nvSpPr>
          <p:cNvPr id="128" name="Text 6"/>
          <p:cNvSpPr txBox="1"/>
          <p:nvPr/>
        </p:nvSpPr>
        <p:spPr>
          <a:xfrm>
            <a:off x="380999" y="1494439"/>
            <a:ext cx="1974743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 err="1"/>
              <a:t>Промпт</a:t>
            </a:r>
            <a:r>
              <a:rPr lang="ru-RU" dirty="0"/>
              <a:t>-инжиниринг</a:t>
            </a:r>
            <a:endParaRPr dirty="0"/>
          </a:p>
        </p:txBody>
      </p:sp>
      <p:sp>
        <p:nvSpPr>
          <p:cNvPr id="129" name="Text 7"/>
          <p:cNvSpPr txBox="1"/>
          <p:nvPr/>
        </p:nvSpPr>
        <p:spPr>
          <a:xfrm>
            <a:off x="380999" y="1823053"/>
            <a:ext cx="4948238" cy="179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sz="1200" dirty="0"/>
              <a:t>формулирование запросов к ИИ для получения конкретного результата</a:t>
            </a:r>
            <a:endParaRPr sz="1200" dirty="0"/>
          </a:p>
        </p:txBody>
      </p:sp>
      <p:sp>
        <p:nvSpPr>
          <p:cNvPr id="130" name="Text 10"/>
          <p:cNvSpPr txBox="1"/>
          <p:nvPr/>
        </p:nvSpPr>
        <p:spPr>
          <a:xfrm>
            <a:off x="381000" y="2887549"/>
            <a:ext cx="1974742" cy="24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1900"/>
              </a:lnSpc>
              <a:defRPr sz="16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dirty="0"/>
              <a:t>в будущих проектах</a:t>
            </a:r>
            <a:endParaRPr dirty="0"/>
          </a:p>
        </p:txBody>
      </p:sp>
      <p:sp>
        <p:nvSpPr>
          <p:cNvPr id="131" name="Text 11"/>
          <p:cNvSpPr txBox="1"/>
          <p:nvPr/>
        </p:nvSpPr>
        <p:spPr>
          <a:xfrm>
            <a:off x="381000" y="3216162"/>
            <a:ext cx="4948238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rPr lang="ru-RU" sz="1200" dirty="0"/>
              <a:t>— быстрое прототипирование сайтов/интерфейсов, командная разработка с использованием ИИ-инструментов</a:t>
            </a:r>
            <a:endParaRPr sz="1200" dirty="0"/>
          </a:p>
        </p:txBody>
      </p:sp>
      <p:sp>
        <p:nvSpPr>
          <p:cNvPr id="132" name="Text 12"/>
          <p:cNvSpPr txBox="1"/>
          <p:nvPr/>
        </p:nvSpPr>
        <p:spPr>
          <a:xfrm>
            <a:off x="381000" y="380999"/>
            <a:ext cx="5300663" cy="361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400">
                <a:solidFill>
                  <a:srgbClr val="013489"/>
                </a:solidFill>
                <a:latin typeface="CoFo Sans Medium"/>
                <a:ea typeface="CoFo Sans Medium"/>
                <a:cs typeface="CoFo Sans Medium"/>
                <a:sym typeface="CoFo Sans Medium"/>
              </a:defRPr>
            </a:lvl1pPr>
          </a:lstStyle>
          <a:p>
            <a:r>
              <a:t>Какие навыки получили? </a:t>
            </a:r>
          </a:p>
        </p:txBody>
      </p:sp>
      <p:sp>
        <p:nvSpPr>
          <p:cNvPr id="133" name="Text 13"/>
          <p:cNvSpPr txBox="1"/>
          <p:nvPr/>
        </p:nvSpPr>
        <p:spPr>
          <a:xfrm>
            <a:off x="381000" y="4648200"/>
            <a:ext cx="12192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00"/>
              </a:lnSpc>
              <a:defRPr sz="700">
                <a:solidFill>
                  <a:srgbClr val="003288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lvl1pPr>
          </a:lstStyle>
          <a:p>
            <a:r>
              <a:t>ЭР | Эффективное Развитие</a:t>
            </a:r>
          </a:p>
        </p:txBody>
      </p:sp>
      <p:sp>
        <p:nvSpPr>
          <p:cNvPr id="134" name="Shape 14"/>
          <p:cNvSpPr/>
          <p:nvPr/>
        </p:nvSpPr>
        <p:spPr>
          <a:xfrm>
            <a:off x="7572375" y="3571875"/>
            <a:ext cx="1188021" cy="1188021"/>
          </a:xfrm>
          <a:prstGeom prst="roundRect">
            <a:avLst>
              <a:gd name="adj" fmla="val 16667"/>
            </a:avLst>
          </a:prstGeom>
          <a:solidFill>
            <a:srgbClr val="197A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" name="Text 15"/>
          <p:cNvSpPr txBox="1"/>
          <p:nvPr/>
        </p:nvSpPr>
        <p:spPr>
          <a:xfrm>
            <a:off x="7835382" y="4028120"/>
            <a:ext cx="661989" cy="25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000"/>
              </a:lnSpc>
              <a:defRPr sz="8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QR на сайт</a:t>
            </a:r>
          </a:p>
          <a:p>
            <a:pPr algn="ctr">
              <a:lnSpc>
                <a:spcPts val="1000"/>
              </a:lnSpc>
              <a:defRPr sz="800">
                <a:solidFill>
                  <a:srgbClr val="FFFFFF">
                    <a:alpha val="99000"/>
                  </a:srgbClr>
                </a:solidFill>
                <a:latin typeface="CoFo Sans"/>
                <a:ea typeface="CoFo Sans"/>
                <a:cs typeface="CoFo Sans"/>
                <a:sym typeface="CoFo Sans"/>
              </a:defRPr>
            </a:pPr>
            <a:r>
              <a:t>о профессии</a:t>
            </a:r>
          </a:p>
        </p:txBody>
      </p:sp>
      <p:sp>
        <p:nvSpPr>
          <p:cNvPr id="136" name="Text 12"/>
          <p:cNvSpPr txBox="1"/>
          <p:nvPr/>
        </p:nvSpPr>
        <p:spPr>
          <a:xfrm>
            <a:off x="380999" y="2449398"/>
            <a:ext cx="5300663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400">
                <a:solidFill>
                  <a:srgbClr val="013489"/>
                </a:solidFill>
                <a:latin typeface="CoFo Sans Medium"/>
                <a:ea typeface="CoFo Sans Medium"/>
                <a:cs typeface="CoFo Sans Medium"/>
                <a:sym typeface="CoFo Sans Medium"/>
              </a:defRPr>
            </a:lvl1pPr>
          </a:lstStyle>
          <a:p>
            <a:r>
              <a:rPr dirty="0" err="1"/>
              <a:t>Где</a:t>
            </a:r>
            <a:r>
              <a:rPr dirty="0"/>
              <a:t> </a:t>
            </a:r>
            <a:r>
              <a:rPr lang="ru-RU" dirty="0"/>
              <a:t>и</a:t>
            </a:r>
            <a:r>
              <a:rPr dirty="0"/>
              <a:t>х </a:t>
            </a:r>
            <a:r>
              <a:rPr dirty="0" err="1"/>
              <a:t>использовать</a:t>
            </a:r>
            <a:r>
              <a:rPr lang="en-US" dirty="0"/>
              <a:t>: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106A31-DCE2-C2FC-068E-DE58D85DE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557" y="3648415"/>
            <a:ext cx="1011644" cy="101706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585</Words>
  <Application>Microsoft Office PowerPoint</Application>
  <PresentationFormat>Экран (16:9)</PresentationFormat>
  <Paragraphs>91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CoFo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HONOR</dc:creator>
  <cp:lastModifiedBy>Кирилл Жильников</cp:lastModifiedBy>
  <cp:revision>3</cp:revision>
  <dcterms:modified xsi:type="dcterms:W3CDTF">2026-07-08T11:54:45Z</dcterms:modified>
</cp:coreProperties>
</file>